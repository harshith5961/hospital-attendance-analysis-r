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Attended</c:v>
                </c:pt>
              </c:strCache>
            </c:strRef>
          </c:tx>
          <c:spPr>
            <a:solidFill>
              <a:srgbClr val="168C91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Attended</c:v>
                  </c:pt>
                  <c:pt idx="1">
                    <c:v>Missed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42599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Missed</c:v>
                </c:pt>
              </c:strCache>
            </c:strRef>
          </c:tx>
          <c:spPr>
            <a:solidFill>
              <a:srgbClr val="D97066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Attended</c:v>
                  </c:pt>
                  <c:pt idx="1">
                    <c:v>Missed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11377</c:v>
                </c:pt>
              </c:numCache>
            </c:numRef>
          </c:val>
        </c:ser>
        <c:dLbls>
          <c:numFmt formatCode="#,##0;;" sourceLinked="0"/>
          <c:txPr>
            <a:bodyPr/>
            <a:lstStyle/>
            <a:p>
              <a:pPr>
                <a:defRPr b="1" i="0" strike="noStrike" sz="14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9384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000"/>
          <c:min val="0"/>
        </c:scaling>
        <c:delete val="0"/>
        <c:axPos val="l"/>
        <c:majorGridlines>
          <c:spPr>
            <a:ln w="9525" cap="flat">
              <a:solidFill>
                <a:srgbClr val="DDE6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293845"/>
                    </a:solidFill>
                    <a:latin typeface="Calibri"/>
                  </a:defRPr>
                </a:pPr>
                <a:r>
                  <a:rPr sz="1200" b="0" i="0" u="none" strike="noStrike">
                    <a:solidFill>
                      <a:srgbClr val="293845"/>
                    </a:solidFill>
                    <a:latin typeface="Calibri"/>
                  </a:rPr>
                  <a:t>Appointments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9384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5685B0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9384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0.6029</c:v>
                </c:pt>
                <c:pt idx="1">
                  <c:v>0.316</c:v>
                </c:pt>
                <c:pt idx="2">
                  <c:v>0.7522</c:v>
                </c:pt>
                <c:pt idx="3">
                  <c:v>0.445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168C91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9384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0.626</c:v>
                </c:pt>
                <c:pt idx="1">
                  <c:v>0.3252</c:v>
                </c:pt>
                <c:pt idx="2">
                  <c:v>0.7137</c:v>
                </c:pt>
                <c:pt idx="3">
                  <c:v>0.4468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000" u="none">
                  <a:solidFill>
                    <a:srgbClr val="29384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9384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DDE6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293845"/>
                    </a:solidFill>
                    <a:latin typeface="Calibri"/>
                  </a:defRPr>
                </a:pPr>
                <a:r>
                  <a:rPr sz="1200" b="0" i="0" u="none" strike="noStrike">
                    <a:solidFill>
                      <a:srgbClr val="293845"/>
                    </a:solidFill>
                    <a:latin typeface="Calibri"/>
                  </a:rPr>
                  <a:t>Score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9384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9384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Gain</c:v>
                </c:pt>
              </c:strCache>
            </c:strRef>
          </c:tx>
          <c:spPr>
            <a:solidFill>
              <a:srgbClr val="168C91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9384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WaitingDays</c:v>
                  </c:pt>
                  <c:pt idx="1">
                    <c:v>Age</c:v>
                  </c:pt>
                  <c:pt idx="2">
                    <c:v>SMS_received</c:v>
                  </c:pt>
                  <c:pt idx="3">
                    <c:v>Scholarship</c:v>
                  </c:pt>
                  <c:pt idx="4">
                    <c:v>GenderF</c:v>
                  </c:pt>
                  <c:pt idx="5">
                    <c:v>Alcoholism</c:v>
                  </c:pt>
                  <c:pt idx="6">
                    <c:v>Hipertension</c:v>
                  </c:pt>
                  <c:pt idx="7">
                    <c:v>Handcap</c:v>
                  </c:pt>
                  <c:pt idx="8">
                    <c:v>GenderM</c:v>
                  </c:pt>
                  <c:pt idx="9">
                    <c:v>Diabetes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0.7814</c:v>
                </c:pt>
                <c:pt idx="1">
                  <c:v>0.1487</c:v>
                </c:pt>
                <c:pt idx="2">
                  <c:v>0.0213</c:v>
                </c:pt>
                <c:pt idx="3">
                  <c:v>0.0141</c:v>
                </c:pt>
                <c:pt idx="4">
                  <c:v>0.0112</c:v>
                </c:pt>
                <c:pt idx="5">
                  <c:v>0.0095</c:v>
                </c:pt>
                <c:pt idx="6">
                  <c:v>0.0063</c:v>
                </c:pt>
                <c:pt idx="7">
                  <c:v>0.0038</c:v>
                </c:pt>
                <c:pt idx="8">
                  <c:v>0.0023</c:v>
                </c:pt>
                <c:pt idx="9">
                  <c:v>0.0015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900" u="none">
                  <a:solidFill>
                    <a:srgbClr val="29384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9384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0.9"/>
          <c:min val="0"/>
        </c:scaling>
        <c:delete val="0"/>
        <c:axPos val="b"/>
        <c:majorGridlines>
          <c:spPr>
            <a:ln w="9525" cap="flat">
              <a:solidFill>
                <a:srgbClr val="DDE6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293845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293845"/>
                    </a:solidFill>
                    <a:latin typeface="Calibri"/>
                  </a:rPr>
                  <a:t>Gain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9384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Attending</c:v>
                </c:pt>
              </c:strCache>
            </c:strRef>
          </c:tx>
          <c:spPr>
            <a:solidFill>
              <a:srgbClr val="168C91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Random Forest</c:v>
                  </c:pt>
                  <c:pt idx="1">
                    <c:v>XGBoost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72.36</c:v>
                </c:pt>
                <c:pt idx="1">
                  <c:v>60.6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Missing</c:v>
                </c:pt>
              </c:strCache>
            </c:strRef>
          </c:tx>
          <c:spPr>
            <a:solidFill>
              <a:srgbClr val="D97066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Random Forest</c:v>
                  </c:pt>
                  <c:pt idx="1">
                    <c:v>XGBoost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27.64</c:v>
                </c:pt>
                <c:pt idx="1">
                  <c:v>39.4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9384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9525" cap="flat">
              <a:solidFill>
                <a:srgbClr val="DDE6E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9384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29384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Completed project: attendance analysis of hospital appointment records in R, with Random Forest and XGBoost models and a new-patient probability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and the research question. Stress that the outputs are probabilities and follow-up flags, not guarantees of attendance.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source: 110,527 records and 14 columns. Working CSV: 53,978 imported, 53,976 after cleaning. Missed rate 21.08%. The working file may be a subset of the original; its coverage should be documented.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implemented cleaning steps are shown. Identifiers and the target are not used as predictors. Gender becomes indicator columns for XGBoost.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Patient-based splitting guarantees zero shared patients between training, validation and testing (checked for all three pairs). Validation decides thresholds; the test set is used for final reporting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from the final report: missed (%) by age group, gender, waiting period and SMS indicator. Values are shown as drawn in the report; the interpretation is qualitative and reads only the bar order and relative heights.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two implemented models are shown. Configuration values are taken from the final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 values are the test metrics from the report (4 d.p.). Accuracy and precision are not the right headline measures for an imbalanced outcome; recall and F1 for missed appointments show the detection trade-off.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Confusion matrices from the report. Flags = predicted missed at the validation threshold. Test set: 8,404 attended and 2,256 missed appointments.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Probabilities come from the report (new appointment, fictional patient). The 50% rule gives the more probable outcome; the follow-up flag uses the validation thresholds (0.22 RF, 0.24 XGBoost). The demonstration does not validate the model. Diabetes is coded 0 or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is marked pending because the report states version control is maintained separately and no repository evidence was supplied. Do not describe Git as completed unless a repository is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is limited to a research prototype. References are taken from the final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1" Type="http://schemas.openxmlformats.org/officeDocument/2006/relationships/image" Target="../media/image-1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1828800"/>
            <a:ext cx="2743200" cy="2743200"/>
          </a:xfrm>
          <a:prstGeom prst="ellipse">
            <a:avLst/>
          </a:prstGeom>
          <a:solidFill>
            <a:srgbClr val="168C91"/>
          </a:solidFill>
          <a:ln w="12700">
            <a:solidFill>
              <a:srgbClr val="168C91"/>
            </a:solidFill>
            <a:prstDash val="solid"/>
          </a:ln>
        </p:spPr>
      </p:sp>
      <p:pic>
        <p:nvPicPr>
          <p:cNvPr id="3" name="Image 0" descr="/home/claude/ex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25146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0972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Appointment Management &amp; Patient Attendance Analysis Using R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Srinivasa Prasad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31520" y="37033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Number: 160124771033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Artificial Intelligence &amp; Data Science (AI &amp; DS)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Chaitanya Bharathi Institute of Technology (CBIT)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5303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8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Project Presentation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and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4800600"/>
          </a:xfrm>
          <a:prstGeom prst="rect">
            <a:avLst/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00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staff plan appointments without knowing whether each patient will attend.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appointment leaves capacity unused and makes scheduling less reliable.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records can show patterns linked to missed appointments.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8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historical patient and appointment information help identify appointments at higher risk of being missed, while reporting the probability of attendance?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0" y="1371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126480" y="1920240"/>
            <a:ext cx="5486400" cy="1298448"/>
          </a:xfrm>
          <a:prstGeom prst="rect">
            <a:avLst/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2157984"/>
            <a:ext cx="822960" cy="822960"/>
          </a:xfrm>
          <a:prstGeom prst="ellipse">
            <a:avLst/>
          </a:prstGeom>
          <a:solidFill>
            <a:srgbClr val="168C91"/>
          </a:solidFill>
          <a:ln w="12700">
            <a:solidFill>
              <a:srgbClr val="168C91"/>
            </a:solidFill>
            <a:prstDash val="solid"/>
          </a:ln>
        </p:spPr>
      </p:sp>
      <p:pic>
        <p:nvPicPr>
          <p:cNvPr id="11" name="Image 0" descr="/home/claude/ex/ppt/media/image-6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0820" y="2363724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06640" y="20665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analysis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406640" y="245059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attended and missed appointments across age, waiting period, gender and SMS status.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26480" y="3383280"/>
            <a:ext cx="5486400" cy="1298448"/>
          </a:xfrm>
          <a:prstGeom prst="rect">
            <a:avLst/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55080" y="3621024"/>
            <a:ext cx="822960" cy="822960"/>
          </a:xfrm>
          <a:prstGeom prst="ellipse">
            <a:avLst/>
          </a:prstGeom>
          <a:solidFill>
            <a:srgbClr val="168C91"/>
          </a:solidFill>
          <a:ln w="12700">
            <a:solidFill>
              <a:srgbClr val="168C91"/>
            </a:solidFill>
            <a:prstDash val="solid"/>
          </a:ln>
        </p:spPr>
      </p:sp>
      <p:pic>
        <p:nvPicPr>
          <p:cNvPr id="16" name="Image 1" descr="/home/claude/ex/ppt/media/image-7-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820" y="3826764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06640" y="35295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7406640" y="391363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Random Forest and XGBoost, select follow-up thresholds on validation data, and compare test results.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126480" y="4846320"/>
            <a:ext cx="5486400" cy="1298448"/>
          </a:xfrm>
          <a:prstGeom prst="rect">
            <a:avLst/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355080" y="5084064"/>
            <a:ext cx="822960" cy="822960"/>
          </a:xfrm>
          <a:prstGeom prst="ellipse">
            <a:avLst/>
          </a:prstGeom>
          <a:solidFill>
            <a:srgbClr val="168C91"/>
          </a:solidFill>
          <a:ln w="12700">
            <a:solidFill>
              <a:srgbClr val="168C91"/>
            </a:solidFill>
            <a:prstDash val="solid"/>
          </a:ln>
        </p:spPr>
      </p:sp>
      <p:pic>
        <p:nvPicPr>
          <p:cNvPr id="21" name="Image 2" descr="/home/claude/ex/ppt/media/image-9-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5289804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406640" y="49926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New-patient probability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7406640" y="537667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attending and missing probabilities for a new appointment record.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548640" y="638251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Appointment Management &amp; Patient Attendance Analysis Using R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10881360" y="63825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and Attendance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896112"/>
          </a:xfrm>
          <a:prstGeom prst="rect">
            <a:avLst/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71600"/>
            <a:ext cx="2011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8C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110,527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834640" y="1371600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source dataset: records, 14 columns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95728"/>
            <a:ext cx="5394960" cy="896112"/>
          </a:xfrm>
          <a:prstGeom prst="rect">
            <a:avLst/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95728"/>
            <a:ext cx="2011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8C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53,978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834640" y="2395728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working CSV (KaggleV2-May-2016.csv): records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19856"/>
            <a:ext cx="5394960" cy="896112"/>
          </a:xfrm>
          <a:prstGeom prst="rect">
            <a:avLst/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419856"/>
            <a:ext cx="2011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8C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53,976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34640" y="3419856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working dataset: records used in analysis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5262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 file may be a subset of the original dataset.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one appointment; a patient can appear more than once.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No-show column was renamed verification: No = Attended, Yes = Missed.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13258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outcome (n = 53,976)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309360" y="1737360"/>
            <a:ext cx="530352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E"/>
            </a:solidFill>
            <a:prstDash val="solid"/>
          </a:ln>
        </p:spPr>
      </p:sp>
      <p:graphicFrame>
        <p:nvGraphicFramePr>
          <p:cNvPr id="15" name="Chart 0" descr=""/>
          <p:cNvGraphicFramePr/>
          <p:nvPr/>
        </p:nvGraphicFramePr>
        <p:xfrm>
          <a:off x="6446520" y="1828800"/>
          <a:ext cx="50292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/>
          <p:nvPr/>
        </p:nvSpPr>
        <p:spPr>
          <a:xfrm>
            <a:off x="6309360" y="5623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Attended 42,599 (78.92%)  ·  Missed 11,377 (21.08%)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" y="638251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Appointment Management &amp; Patient Attendance Analysis Using 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881360" y="63825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and Selected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Implemented preparation steps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760720" cy="694944"/>
          </a:xfrm>
          <a:prstGeom prst="rect">
            <a:avLst/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93392"/>
            <a:ext cx="457200" cy="457200"/>
          </a:xfrm>
          <a:prstGeom prst="ellipse">
            <a:avLst/>
          </a:prstGeom>
          <a:solidFill>
            <a:srgbClr val="168C91"/>
          </a:solidFill>
          <a:ln w="12700">
            <a:solidFill>
              <a:srgbClr val="168C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Inspected data types, missing values, duplicates and invalid records.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5760720" cy="694944"/>
          </a:xfrm>
          <a:prstGeom prst="rect">
            <a:avLst/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843784"/>
            <a:ext cx="457200" cy="457200"/>
          </a:xfrm>
          <a:prstGeom prst="ellipse">
            <a:avLst/>
          </a:prstGeom>
          <a:solidFill>
            <a:srgbClr val="168C91"/>
          </a:solidFill>
          <a:ln w="12700">
            <a:solidFill>
              <a:srgbClr val="168C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724912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negative ages and invalid waiting periods; age 0 is kept.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575304"/>
            <a:ext cx="5760720" cy="694944"/>
          </a:xfrm>
          <a:prstGeom prst="rect">
            <a:avLst/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694176"/>
            <a:ext cx="457200" cy="457200"/>
          </a:xfrm>
          <a:prstGeom prst="ellipse">
            <a:avLst/>
          </a:prstGeom>
          <a:solidFill>
            <a:srgbClr val="168C91"/>
          </a:solidFill>
          <a:ln w="12700">
            <a:solidFill>
              <a:srgbClr val="168C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575304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booking and appointment dates.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425696"/>
            <a:ext cx="5760720" cy="694944"/>
          </a:xfrm>
          <a:prstGeom prst="rect">
            <a:avLst/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544568"/>
            <a:ext cx="457200" cy="457200"/>
          </a:xfrm>
          <a:prstGeom prst="ellipse">
            <a:avLst/>
          </a:prstGeom>
          <a:solidFill>
            <a:srgbClr val="168C91"/>
          </a:solidFill>
          <a:ln w="12700">
            <a:solidFill>
              <a:srgbClr val="168C9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4425696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WaitingDays as calendar days between the two dates.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276088"/>
            <a:ext cx="5760720" cy="694944"/>
          </a:xfrm>
          <a:prstGeom prst="rect">
            <a:avLst/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5394960"/>
            <a:ext cx="457200" cy="457200"/>
          </a:xfrm>
          <a:prstGeom prst="ellipse">
            <a:avLst/>
          </a:prstGeom>
          <a:solidFill>
            <a:srgbClr val="168C91"/>
          </a:solidFill>
          <a:ln w="12700">
            <a:solidFill>
              <a:srgbClr val="168C9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5276088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gender and attendance labels; no missing values remained.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1325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predictors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675120" y="1874520"/>
            <a:ext cx="1554480" cy="694944"/>
          </a:xfrm>
          <a:prstGeom prst="rect">
            <a:avLst/>
          </a:prstGeom>
          <a:solidFill>
            <a:srgbClr val="168C9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1874520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366760" y="1874520"/>
            <a:ext cx="1554480" cy="694944"/>
          </a:xfrm>
          <a:prstGeom prst="rect">
            <a:avLst/>
          </a:prstGeom>
          <a:solidFill>
            <a:srgbClr val="5685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1874520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058400" y="1874520"/>
            <a:ext cx="1554480" cy="694944"/>
          </a:xfrm>
          <a:prstGeom prst="rect">
            <a:avLst/>
          </a:prstGeom>
          <a:solidFill>
            <a:srgbClr val="5685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0" y="1874520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75120" y="2743200"/>
            <a:ext cx="1554480" cy="694944"/>
          </a:xfrm>
          <a:prstGeom prst="rect">
            <a:avLst/>
          </a:prstGeom>
          <a:solidFill>
            <a:srgbClr val="5685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2743200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Hipertension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366760" y="2743200"/>
            <a:ext cx="1554480" cy="694944"/>
          </a:xfrm>
          <a:prstGeom prst="rect">
            <a:avLst/>
          </a:prstGeom>
          <a:solidFill>
            <a:srgbClr val="5685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66760" y="2743200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0058400" y="2743200"/>
            <a:ext cx="1554480" cy="694944"/>
          </a:xfrm>
          <a:prstGeom prst="rect">
            <a:avLst/>
          </a:prstGeom>
          <a:solidFill>
            <a:srgbClr val="5685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8400" y="2743200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Alcoholism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675120" y="3611880"/>
            <a:ext cx="1554480" cy="694944"/>
          </a:xfrm>
          <a:prstGeom prst="rect">
            <a:avLst/>
          </a:prstGeom>
          <a:solidFill>
            <a:srgbClr val="5685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3611880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Handcap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366760" y="3611880"/>
            <a:ext cx="1554480" cy="694944"/>
          </a:xfrm>
          <a:prstGeom prst="rect">
            <a:avLst/>
          </a:prstGeom>
          <a:solidFill>
            <a:srgbClr val="5685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66760" y="3611880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SMS_received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0058400" y="3611880"/>
            <a:ext cx="1554480" cy="694944"/>
          </a:xfrm>
          <a:prstGeom prst="rect">
            <a:avLst/>
          </a:prstGeom>
          <a:solidFill>
            <a:srgbClr val="168C9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58400" y="3611880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WaitingDays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675120" y="4572000"/>
            <a:ext cx="5029200" cy="1371600"/>
          </a:xfrm>
          <a:prstGeom prst="rect">
            <a:avLst/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03720" y="46634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 (PatientId, AppointmentID) are excluded from predictors.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verification (Attended or Missed). Teal = top XGBoost gain features.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48640" y="638251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Appointment Management &amp; Patient Attendance Analysis Using 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881360" y="63825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and Patient-Separated Data Splitting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600200" cy="1143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and cleaning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94560" y="1709928"/>
            <a:ext cx="201168" cy="457200"/>
          </a:xfrm>
          <a:prstGeom prst="rightArrow">
            <a:avLst/>
          </a:prstGeom>
          <a:solidFill>
            <a:srgbClr val="5685B0"/>
          </a:solidFill>
          <a:ln w="12700">
            <a:solidFill>
              <a:srgbClr val="5685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41448" y="1371600"/>
            <a:ext cx="1600200" cy="1143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32888" y="1371600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Patient-based splitting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87368" y="1709928"/>
            <a:ext cx="201168" cy="457200"/>
          </a:xfrm>
          <a:prstGeom prst="rightArrow">
            <a:avLst/>
          </a:prstGeom>
          <a:solidFill>
            <a:srgbClr val="5685B0"/>
          </a:solidFill>
          <a:ln w="12700">
            <a:solidFill>
              <a:srgbClr val="5685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34256" y="1371600"/>
            <a:ext cx="1600200" cy="1143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5696" y="1371600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and XGBoost training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80176" y="1709928"/>
            <a:ext cx="201168" cy="457200"/>
          </a:xfrm>
          <a:prstGeom prst="rightArrow">
            <a:avLst/>
          </a:prstGeom>
          <a:solidFill>
            <a:srgbClr val="5685B0"/>
          </a:solidFill>
          <a:ln w="12700">
            <a:solidFill>
              <a:srgbClr val="5685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27064" y="1371600"/>
            <a:ext cx="1600200" cy="1143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18504" y="1371600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and threshold selection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72984" y="1709928"/>
            <a:ext cx="201168" cy="457200"/>
          </a:xfrm>
          <a:prstGeom prst="rightArrow">
            <a:avLst/>
          </a:prstGeom>
          <a:solidFill>
            <a:srgbClr val="5685B0"/>
          </a:solidFill>
          <a:ln w="12700">
            <a:solidFill>
              <a:srgbClr val="5685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19872" y="1371600"/>
            <a:ext cx="1600200" cy="1143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1312" y="1371600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evaluation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765792" y="1709928"/>
            <a:ext cx="201168" cy="457200"/>
          </a:xfrm>
          <a:prstGeom prst="rightArrow">
            <a:avLst/>
          </a:prstGeom>
          <a:solidFill>
            <a:srgbClr val="5685B0"/>
          </a:solidFill>
          <a:ln w="12700">
            <a:solidFill>
              <a:srgbClr val="5685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12680" y="1371600"/>
            <a:ext cx="1600200" cy="1143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04120" y="1371600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New-patient prediction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2926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Appointments in each partition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8640" y="3429000"/>
            <a:ext cx="3474720" cy="1600200"/>
          </a:xfrm>
          <a:prstGeom prst="rect">
            <a:avLst/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5204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34,719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22960" y="4206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8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" y="4526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Random Forest and XGBoost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43400" y="3429000"/>
            <a:ext cx="3474720" cy="1600200"/>
          </a:xfrm>
          <a:prstGeom prst="rect">
            <a:avLst/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35204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8,597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4617720" y="4206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8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17720" y="4526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settings and follow-up thresholds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38160" y="3429000"/>
            <a:ext cx="3474720" cy="1600200"/>
          </a:xfrm>
          <a:prstGeom prst="rect">
            <a:avLst/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35204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10,660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8412480" y="4206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8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412480" y="4526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the fixed models once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5303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are separated across partitions: no patient appears in more than one.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picks model settings and thresholds (search from 0.01 to 0.99 maximising validation F1).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evaluates the fixed models; it did not choose thresholds.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48640" y="638251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Appointment Management &amp; Patient Attendance Analysis Using 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881360" y="63825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Patterns by Group</a:t>
            </a:r>
            <a:endParaRPr lang="en-US" sz="3200" dirty="0"/>
          </a:p>
        </p:txBody>
      </p:sp>
      <p:pic>
        <p:nvPicPr>
          <p:cNvPr id="3" name="Image 0" descr="/home/claude/rep/im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452110" cy="4846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12230" y="1371600"/>
            <a:ext cx="52006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graphs show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412230" y="1874520"/>
            <a:ext cx="520065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period shows the clearest pattern: the missed share rises from same-day appointments to 31+ days.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aged 60+ have the lowest missed share; ages 0–17 and 18–39 are highest.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groups are similar.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an SMS indicator have a higher missed share than those without. These are descriptive associations; SMS groups also differ in waiting periods, so this does not show that SMS causes better or worse attendance.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8251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Appointment Management &amp; Patient Attendance Analysis Using 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881360" y="63825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and XGBoost Implementation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4069080"/>
          </a:xfrm>
          <a:prstGeom prst="rect">
            <a:avLst/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45920"/>
            <a:ext cx="777240" cy="777240"/>
          </a:xfrm>
          <a:prstGeom prst="ellipse">
            <a:avLst/>
          </a:prstGeom>
          <a:solidFill>
            <a:srgbClr val="168C91"/>
          </a:solidFill>
          <a:ln w="12700">
            <a:solidFill>
              <a:srgbClr val="168C91"/>
            </a:solidFill>
            <a:prstDash val="solid"/>
          </a:ln>
        </p:spPr>
      </p:sp>
      <p:pic>
        <p:nvPicPr>
          <p:cNvPr id="5" name="Image 0" descr="/home/claude/ex/ppt/media/image-7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1840230"/>
            <a:ext cx="388620" cy="388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6459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874520" y="2057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6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forest (ranger 0.18.0)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2743200"/>
            <a:ext cx="4663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forest from the ranger package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trees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mtry = 3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node size = 20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63640" y="1371600"/>
            <a:ext cx="5349240" cy="4069080"/>
          </a:xfrm>
          <a:prstGeom prst="rect">
            <a:avLst/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645920"/>
            <a:ext cx="777240" cy="777240"/>
          </a:xfrm>
          <a:prstGeom prst="ellipse">
            <a:avLst/>
          </a:prstGeom>
          <a:solidFill>
            <a:srgbClr val="168C91"/>
          </a:solidFill>
          <a:ln w="12700">
            <a:solidFill>
              <a:srgbClr val="168C91"/>
            </a:solidFill>
            <a:prstDash val="solid"/>
          </a:ln>
        </p:spPr>
      </p:sp>
      <p:pic>
        <p:nvPicPr>
          <p:cNvPr id="11" name="Image 1" descr="/home/claude/ex/ppt/media/image-7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990" y="184023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16459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7589520" y="2057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8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(xgboost 3.2.1.1)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675120" y="2743200"/>
            <a:ext cx="4663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logistic objective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(eta) = 0.05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depth = 4; minimum child weight = 10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and column sampling = 0.8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500 rounds; early stopping after 30 rounds without validation log-loss improvement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use seed 33 and are trained on the 34,719-appointment training partition. Thresholds are selected on validation data only.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48640" y="638251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Appointment Management &amp; Patient Attendance Analysis Using R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0881360" y="63825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Performance Comparison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  <a:gridCol w="1463040"/>
                <a:gridCol w="1463040"/>
                <a:gridCol w="146304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Follow-up threshold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Brier score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9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9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9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60.29%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9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31.60%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9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75.22%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9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9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9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9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9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62.60%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9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32.52%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9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71.37%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9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0.4468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9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0.1505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2743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set: 10,660 appointments. Precision, recall and F1 refer to missed appointments. Thresholds were selected on validation F1 (RF 0.4446; XGBoost 0.4465).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3246120"/>
            <a:ext cx="667512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E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640080" y="3291840"/>
          <a:ext cx="649224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7498080" y="3246120"/>
            <a:ext cx="4114800" cy="2971800"/>
          </a:xfrm>
          <a:prstGeom prst="rect">
            <a:avLst/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26680" y="338328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Always-attend baseline accuracy: 78.84%.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Constant-risk baseline Brier score: 0.1668 (lower is better).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thresholds detect more missed appointments but flag more patients who attend, so accuracy falls below the always-attend baseline. This is the trade-off.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 is in the table only: it is not on the chart scale.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8640" y="638251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Appointment Management &amp; Patient Attendance Analysis Using R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0881360" y="63825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Matrices and Interpretation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(threshold 0.22)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486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783080"/>
                <a:gridCol w="178308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\ Predicted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attended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missed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9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attended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9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9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3,674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9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missed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9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9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1,697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CE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12801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(threshold 0.24)</a:t>
            </a:r>
            <a:endParaRPr lang="en-US" sz="18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37360"/>
          <a:ext cx="5486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783080"/>
                <a:gridCol w="178308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\ Predicted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attended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missed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9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attended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9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5,063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9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3,341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9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missed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9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938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CE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3657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are actual outcomes; columns are threshold-based predictions. Shaded diagonal cells are correct predictions.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48640" y="4114800"/>
            <a:ext cx="11064240" cy="2057400"/>
          </a:xfrm>
          <a:prstGeom prst="rect">
            <a:avLst/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77240" y="4206240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identifies more missed appointments: 1,697 of 2,256 (recall 75.22%), but flags 5,371 appointments, of which 3,674 attend.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flags 4,951 appointments, of which 3,341 attend, with slightly higher F1 (0.4468 vs 0.4450) and lower Brier score (0.1505 vs 0.1516).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difference establishes a decisive winner.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flagged patients actually attend, so flags are best used to prioritise reminders and confirmation calls.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48640" y="638251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Appointment Management &amp; Patient Attendance Analysis Using R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0881360" y="63825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 and New-Patient Output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6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importance (impurity)</a:t>
            </a:r>
            <a:endParaRPr lang="en-US" sz="1300" dirty="0"/>
          </a:p>
        </p:txBody>
      </p:sp>
      <p:pic>
        <p:nvPicPr>
          <p:cNvPr id="4" name="Image 0" descr="/home/claude/rep/img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184648" cy="2880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09360" y="11430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8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importance (gain)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309360" y="1463040"/>
            <a:ext cx="530352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E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6355080" y="1508760"/>
          <a:ext cx="521208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43891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WaitingDays and Age have the highest XGBoost gain. Importance shows model use, not causation; the two scales differ.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4754880"/>
            <a:ext cx="5577840" cy="1481328"/>
          </a:xfrm>
          <a:prstGeom prst="rect">
            <a:avLst/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31520" y="4800600"/>
            <a:ext cx="53035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patient: </a:t>
            </a:r>
            <a:pPr indent="0" marL="0">
              <a:buNone/>
            </a:pPr>
            <a:r>
              <a:rPr lang="en-US" sz="12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28, Gender M, Scholarship 0, Hipertension 0, Diabetes 1, Alcoholism 0, Handcap 4, SMS_received 0, WaitingDays 20.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probable outcome (50% rule): </a:t>
            </a:r>
            <a:pPr indent="0" marL="0">
              <a:buNone/>
            </a:pPr>
            <a:r>
              <a:rPr lang="en-US" sz="12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Attended for both models.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flag (validation threshold): </a:t>
            </a:r>
            <a:pPr indent="0" marL="0">
              <a:buNone/>
            </a:pPr>
            <a:r>
              <a:rPr lang="en-US" sz="12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by both (RF: 27.64% missing ≥ 22%; XGBoost: 39.40% missing ≥ 24%). A flag does not mean missing is more likely.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309360" y="4754880"/>
            <a:ext cx="530352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E"/>
            </a:solidFill>
            <a:prstDash val="solid"/>
          </a:ln>
        </p:spPr>
      </p:sp>
      <p:graphicFrame>
        <p:nvGraphicFramePr>
          <p:cNvPr id="12" name="Chart 1" descr=""/>
          <p:cNvGraphicFramePr/>
          <p:nvPr/>
        </p:nvGraphicFramePr>
        <p:xfrm>
          <a:off x="6355080" y="4773168"/>
          <a:ext cx="5212080" cy="144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 8"/>
          <p:cNvSpPr/>
          <p:nvPr/>
        </p:nvSpPr>
        <p:spPr>
          <a:xfrm>
            <a:off x="548640" y="638251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Appointment Management &amp; Patient Attendance Analysis Using R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0881360" y="63825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Markdown, Saved Outputs and Limitations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outputs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3383280"/>
          </a:xfrm>
          <a:prstGeom prst="rect">
            <a:avLst/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ran in R (4.6.1) in Google Colab, with ranger and xgboost.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Markdown combines narrative, code, tables, graphs and saved results into one HTML report.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renders saved results without retraining; saved models, comparison results and prediction outputs are kept with it.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68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version control: pending. The report notes that version history must be maintained separately; no repository evidence was supplied.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126480" y="1325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126480" y="1828800"/>
            <a:ext cx="54864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 data may be a subset of the original dataset, so coverage is incomplete.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and operational factors that affect attendance are missing (for example transport and urgency).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patterns may not transfer to other hospitals or later dates.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SMS indicator does not establish reading or causation, and must be known when a prediction is made.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precision creates unnecessary follow-up flags.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are uncertain; calibration, subgroup performance and external validation remain to be assessed.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38251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Appointment Management &amp; Patient Attendance Analysis Using 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881360" y="63825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References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937760" cy="3383280"/>
          </a:xfrm>
          <a:prstGeom prst="rect">
            <a:avLst/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4526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estimate attending and missing probabilities and provide follow-up flags.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selects follow-up thresholds; test results report probability quality and missed-appointment detection.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is a research prototype. It does not show improved hospital efficiency or reduced no-shows.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use needs external validation and an assessment of follow-up costs and benefits.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852160" y="132588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852160" y="1828800"/>
            <a:ext cx="576072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Appointment No Shows dataset (Kaggle); working file KaggleV2-May-2016.csv.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Wright, M. N., &amp; Ziegler, A. (2017). ranger: A fast implementation of random forests for high dimensional data in C++ and R. Journal of Statistical Software, 77(1), 1–17. https://doi.org/10.18637/jss.v077.i01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Chen, T., &amp; Guestrin, C. (2016). XGBoost: A scalable tree boosting system. Proceedings of the 22nd ACM SIGKDD International Conference on Knowledge Discovery and Data Mining. https://doi.org/10.1145/2939672.2939785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Core Team (2026). R: A Language and Environment for Statistical Computing, version 4.6.1. R Foundation for Statistical Computing, Vienna, Austria.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packages used for the report: rmarkdown 2.32 and knitr 1.52 (documentation).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38251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Appointment Management &amp; Patient Attendance Analysis Using 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881360" y="63825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93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Appointment Management &amp; Patient Attendance Analysis Using R</dc:title>
  <dc:subject>PptxGenJS Presentation</dc:subject>
  <dc:creator>Harshit Srinivasa Prasad</dc:creator>
  <cp:lastModifiedBy>Harshit Srinivasa Prasad</cp:lastModifiedBy>
  <cp:revision>1</cp:revision>
  <dcterms:created xsi:type="dcterms:W3CDTF">2026-10-15T05:37:11Z</dcterms:created>
  <dcterms:modified xsi:type="dcterms:W3CDTF">2026-10-15T05:37:11Z</dcterms:modified>
</cp:coreProperties>
</file>